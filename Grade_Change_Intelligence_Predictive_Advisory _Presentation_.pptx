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7"/>
  </p:notesMasterIdLst>
  <p:sldIdLst>
    <p:sldId id="298" r:id="rId2"/>
    <p:sldId id="281" r:id="rId3"/>
    <p:sldId id="290" r:id="rId4"/>
    <p:sldId id="293" r:id="rId5"/>
    <p:sldId id="296" r:id="rId6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92"/>
  </p:normalViewPr>
  <p:slideViewPr>
    <p:cSldViewPr snapToGrid="0" snapToObjects="1">
      <p:cViewPr varScale="1">
        <p:scale>
          <a:sx n="106" d="100"/>
          <a:sy n="106" d="100"/>
        </p:scale>
        <p:origin x="792" y="1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7/26/26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7/26/26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7/26/26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7/26/26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7/26/26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7/26/26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7/26/26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033A5-F70E-7E73-0B8C-FA62C08D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9EC04-BCF1-5A69-7D5A-95D43C97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E0A8E5C6-6BFC-01E5-DDF5-B6A7738A64F4}"/>
              </a:ext>
            </a:extLst>
          </p:cNvPr>
          <p:cNvSpPr txBox="1">
            <a:spLocks/>
          </p:cNvSpPr>
          <p:nvPr/>
        </p:nvSpPr>
        <p:spPr bwMode="auto">
          <a:xfrm>
            <a:off x="1415369" y="-365784"/>
            <a:ext cx="8534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1BDE7-2DA0-F526-CF6E-F50D43C2C5FE}"/>
              </a:ext>
            </a:extLst>
          </p:cNvPr>
          <p:cNvSpPr txBox="1"/>
          <p:nvPr/>
        </p:nvSpPr>
        <p:spPr>
          <a:xfrm>
            <a:off x="397273" y="1203454"/>
            <a:ext cx="683370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800"/>
            </a:pPr>
            <a:r>
              <a:rPr lang="en-IN" dirty="0"/>
              <a:t>Problem Statement Title – Paper Mill Grade Change Optimization</a:t>
            </a:r>
          </a:p>
          <a:p>
            <a:pPr>
              <a:defRPr sz="1800"/>
            </a:pPr>
            <a:r>
              <a:rPr lang="en-IN" dirty="0"/>
              <a:t>Theme – Smart Manufacturing / Industry 4.0</a:t>
            </a:r>
          </a:p>
          <a:p>
            <a:pPr>
              <a:defRPr sz="1800"/>
            </a:pPr>
            <a:r>
              <a:rPr dirty="0"/>
              <a:t>PS Category – Software</a:t>
            </a:r>
          </a:p>
          <a:p>
            <a:pPr>
              <a:defRPr sz="1800"/>
            </a:pPr>
            <a:r>
              <a:rPr dirty="0"/>
              <a:t>Student Name – </a:t>
            </a:r>
            <a:r>
              <a:rPr lang="en-US" dirty="0"/>
              <a:t>Pradhyumn Gurjar</a:t>
            </a:r>
            <a:endParaRPr dirty="0"/>
          </a:p>
          <a:p>
            <a:pPr>
              <a:defRPr sz="1800"/>
            </a:pPr>
            <a:r>
              <a:rPr dirty="0"/>
              <a:t>Student ID – </a:t>
            </a:r>
            <a:r>
              <a:rPr lang="en-US" dirty="0"/>
              <a:t>23BCE10473</a:t>
            </a:r>
            <a:endParaRPr dirty="0"/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/>
              <a:t>IDEA TITLE</a:t>
            </a:r>
          </a:p>
          <a:p>
            <a:pPr>
              <a:defRPr sz="1800"/>
            </a:pPr>
            <a:r>
              <a:rPr dirty="0"/>
              <a:t>Grade-Change Intelligence &amp; Predictive Advisory (GCIPA)</a:t>
            </a:r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/>
              <a:t>Proposed Solution</a:t>
            </a:r>
          </a:p>
          <a:p>
            <a:pPr>
              <a:defRPr sz="1800"/>
            </a:pPr>
            <a:r>
              <a:rPr dirty="0"/>
              <a:t>• AI-powered advisory system to optimize paper mill grade changes.</a:t>
            </a:r>
          </a:p>
          <a:p>
            <a:pPr>
              <a:defRPr sz="1800"/>
            </a:pPr>
            <a:r>
              <a:rPr dirty="0"/>
              <a:t>• Predicts optimal settings to reduce waste, downtime and quality loss.</a:t>
            </a:r>
          </a:p>
        </p:txBody>
      </p:sp>
    </p:spTree>
    <p:extLst>
      <p:ext uri="{BB962C8B-B14F-4D97-AF65-F5344CB8AC3E}">
        <p14:creationId xmlns:p14="http://schemas.microsoft.com/office/powerpoint/2010/main" val="3319884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>
              <a:defRPr sz="2400"/>
            </a:pPr>
            <a:r>
              <a:t>TECHNICAL APPROACH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 sz="1800"/>
            </a:pPr>
            <a:r>
              <a:t>Technologies</a:t>
            </a:r>
            <a:endParaRPr lang="en-US" sz="3200" u="sng" dirty="0">
              <a:latin typeface="Arial" pitchFamily="34" charset="0"/>
              <a:cs typeface="Arial" pitchFamily="34" charset="0"/>
            </a:endParaRPr>
          </a:p>
          <a:p>
            <a:pPr>
              <a:defRPr sz="1800"/>
            </a:pPr>
            <a:r>
              <a:t>• Python • Streamlit • XGBoost • Pandas • SQLite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Methodology</a:t>
            </a:r>
          </a:p>
          <a:p>
            <a:pPr>
              <a:defRPr sz="1800"/>
            </a:pPr>
            <a:r>
              <a:t>Historical Data</a:t>
            </a:r>
          </a:p>
          <a:p>
            <a:pPr>
              <a:defRPr sz="1800"/>
            </a:pPr>
            <a:r>
              <a:t>        ↓</a:t>
            </a:r>
          </a:p>
          <a:p>
            <a:pPr>
              <a:defRPr sz="1800"/>
            </a:pPr>
            <a:r>
              <a:t>ML Prediction</a:t>
            </a:r>
          </a:p>
          <a:p>
            <a:pPr>
              <a:defRPr sz="1800"/>
            </a:pPr>
            <a:r>
              <a:t>        ↓</a:t>
            </a:r>
          </a:p>
          <a:p>
            <a:pPr>
              <a:defRPr sz="1800"/>
            </a:pPr>
            <a:r>
              <a:t>Optimization Engine</a:t>
            </a:r>
          </a:p>
          <a:p>
            <a:pPr>
              <a:defRPr sz="1800"/>
            </a:pPr>
            <a:r>
              <a:t>        ↓</a:t>
            </a:r>
          </a:p>
          <a:p>
            <a:pPr>
              <a:defRPr sz="1800"/>
            </a:pPr>
            <a:r>
              <a:t>Operator Dashboard</a:t>
            </a:r>
          </a:p>
          <a:p>
            <a:pPr>
              <a:defRPr sz="1800"/>
            </a:pPr>
            <a:r>
              <a:t>        ↓</a:t>
            </a:r>
          </a:p>
          <a:p>
            <a:pPr>
              <a:defRPr sz="1800"/>
            </a:pPr>
            <a:r>
              <a:t>Feedback Loop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3DA2C-FA51-9F22-231B-4FC91E258028}"/>
              </a:ext>
            </a:extLst>
          </p:cNvPr>
          <p:cNvSpPr txBox="1">
            <a:spLocks/>
          </p:cNvSpPr>
          <p:nvPr/>
        </p:nvSpPr>
        <p:spPr>
          <a:xfrm>
            <a:off x="8890000" y="65087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r>
              <a:rPr lang="en-US" dirty="0"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369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defRPr sz="1800"/>
            </a:pPr>
            <a:r>
              <a:rPr dirty="0"/>
              <a:t>• Uses existing production data.</a:t>
            </a:r>
          </a:p>
          <a:p>
            <a:pPr>
              <a:defRPr sz="1800"/>
            </a:pPr>
            <a:r>
              <a:rPr dirty="0"/>
              <a:t>• Easy deployment on industrial PCs.</a:t>
            </a:r>
          </a:p>
          <a:p>
            <a:pPr>
              <a:defRPr sz="1800"/>
            </a:pPr>
            <a:r>
              <a:rPr dirty="0"/>
              <a:t>• Explainable AI improves operator trust.</a:t>
            </a:r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/>
              <a:t>Challenges</a:t>
            </a:r>
          </a:p>
          <a:p>
            <a:pPr>
              <a:defRPr sz="1800"/>
            </a:pPr>
            <a:r>
              <a:rPr dirty="0"/>
              <a:t>• Data quality</a:t>
            </a:r>
          </a:p>
          <a:p>
            <a:pPr>
              <a:defRPr sz="1800"/>
            </a:pPr>
            <a:r>
              <a:rPr dirty="0"/>
              <a:t>• Sensor drift</a:t>
            </a:r>
          </a:p>
          <a:p>
            <a:pPr>
              <a:defRPr sz="1800"/>
            </a:pPr>
            <a:r>
              <a:rPr dirty="0"/>
              <a:t>• Adoption</a:t>
            </a:r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/>
              <a:t>Mitigation</a:t>
            </a:r>
          </a:p>
          <a:p>
            <a:pPr>
              <a:defRPr sz="1800"/>
            </a:pPr>
            <a:r>
              <a:rPr dirty="0"/>
              <a:t>• Validation</a:t>
            </a:r>
          </a:p>
          <a:p>
            <a:pPr>
              <a:defRPr sz="1800"/>
            </a:pPr>
            <a:r>
              <a:rPr dirty="0"/>
              <a:t>• Continuous learning</a:t>
            </a:r>
          </a:p>
          <a:p>
            <a:pPr>
              <a:defRPr sz="1800"/>
            </a:pPr>
            <a:r>
              <a:rPr dirty="0"/>
              <a:t>• SHAP explanations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F5F835F8-4E17-9E1F-F37A-DAF947764A17}"/>
              </a:ext>
            </a:extLst>
          </p:cNvPr>
          <p:cNvSpPr txBox="1">
            <a:spLocks/>
          </p:cNvSpPr>
          <p:nvPr/>
        </p:nvSpPr>
        <p:spPr>
          <a:xfrm>
            <a:off x="8890000" y="65087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r>
              <a:rPr lang="en-US" dirty="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ARTIFACTS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 sz="1800"/>
            </a:pPr>
            <a:r>
              <a:rPr dirty="0"/>
              <a:t>• Streamlit Dashboard Screens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defRPr sz="1800"/>
            </a:pPr>
            <a:r>
              <a:rPr dirty="0"/>
              <a:t>• Prediction Results</a:t>
            </a:r>
          </a:p>
          <a:p>
            <a:pPr>
              <a:defRPr sz="1800"/>
            </a:pPr>
            <a:r>
              <a:rPr dirty="0"/>
              <a:t>• Optimization Recommendations</a:t>
            </a:r>
          </a:p>
          <a:p>
            <a:pPr>
              <a:defRPr sz="1800"/>
            </a:pPr>
            <a:r>
              <a:rPr dirty="0"/>
              <a:t>• Source Code</a:t>
            </a:r>
          </a:p>
          <a:p>
            <a:pPr>
              <a:defRPr sz="1800"/>
            </a:pPr>
            <a:r>
              <a:rPr dirty="0"/>
              <a:t>• Prototype Demonstration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D54D6962-AA3E-98FF-38E3-1DE3A321A407}"/>
              </a:ext>
            </a:extLst>
          </p:cNvPr>
          <p:cNvSpPr txBox="1">
            <a:spLocks/>
          </p:cNvSpPr>
          <p:nvPr/>
        </p:nvSpPr>
        <p:spPr>
          <a:xfrm>
            <a:off x="8890000" y="65087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4DCB2E95-3D79-F8DE-32A6-18D5FEFED417}"/>
              </a:ext>
            </a:extLst>
          </p:cNvPr>
          <p:cNvSpPr txBox="1">
            <a:spLocks/>
          </p:cNvSpPr>
          <p:nvPr/>
        </p:nvSpPr>
        <p:spPr>
          <a:xfrm>
            <a:off x="8890000" y="65087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r>
              <a:rPr lang="en-US" dirty="0"/>
              <a:t>5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CBFBCEEE-6558-1D59-F516-054C79C9B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402895"/>
            <a:ext cx="93853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/>
            </a:pPr>
            <a:r>
              <a:rPr dirty="0"/>
              <a:t>RESEARCH &amp; REFERENCES</a:t>
            </a:r>
          </a:p>
          <a:p>
            <a:pPr>
              <a:defRPr sz="1400"/>
            </a:pPr>
            <a:endParaRPr dirty="0"/>
          </a:p>
          <a:p>
            <a:pPr>
              <a:defRPr sz="1400"/>
            </a:pPr>
            <a:r>
              <a:rPr dirty="0"/>
              <a:t>Research Papers</a:t>
            </a:r>
          </a:p>
          <a:p>
            <a:pPr>
              <a:defRPr sz="1400"/>
            </a:pPr>
            <a:r>
              <a:rPr dirty="0"/>
              <a:t>• Modeling of Grade Change Operations in Paper Mills</a:t>
            </a:r>
          </a:p>
          <a:p>
            <a:pPr>
              <a:defRPr sz="1400"/>
            </a:pPr>
            <a:r>
              <a:rPr dirty="0"/>
              <a:t>  https://www.researchgate.net/publication/290305490_Modeling_of_grade_change_operations_in_paper_mills</a:t>
            </a:r>
          </a:p>
          <a:p>
            <a:pPr>
              <a:defRPr sz="1400"/>
            </a:pPr>
            <a:endParaRPr dirty="0"/>
          </a:p>
          <a:p>
            <a:pPr>
              <a:defRPr sz="1400"/>
            </a:pPr>
            <a:r>
              <a:rPr dirty="0"/>
              <a:t>Datasets</a:t>
            </a:r>
          </a:p>
          <a:p>
            <a:pPr>
              <a:defRPr sz="1400"/>
            </a:pPr>
            <a:r>
              <a:rPr dirty="0"/>
              <a:t>• ProcessMiner – Rare Event Multivariate Time Series Dataset</a:t>
            </a:r>
          </a:p>
          <a:p>
            <a:pPr>
              <a:defRPr sz="1400"/>
            </a:pPr>
            <a:r>
              <a:rPr dirty="0"/>
              <a:t>  https://processminer.com/dataset-rare-event-multivariate-time-series-part-1/</a:t>
            </a:r>
          </a:p>
          <a:p>
            <a:pPr>
              <a:defRPr sz="1400"/>
            </a:pPr>
            <a:endParaRPr dirty="0"/>
          </a:p>
          <a:p>
            <a:pPr>
              <a:defRPr sz="1400"/>
            </a:pPr>
            <a:r>
              <a:rPr dirty="0"/>
              <a:t>• UCI ML Repository – MetroPT-3 Dataset</a:t>
            </a:r>
          </a:p>
          <a:p>
            <a:pPr>
              <a:defRPr sz="1400"/>
            </a:pPr>
            <a:r>
              <a:rPr dirty="0"/>
              <a:t>  https://archive.ics.uci.edu/dataset/791/metropt+3+dataset</a:t>
            </a:r>
          </a:p>
          <a:p>
            <a:pPr>
              <a:defRPr sz="1400"/>
            </a:pPr>
            <a:endParaRPr dirty="0"/>
          </a:p>
          <a:p>
            <a:pPr>
              <a:defRPr sz="1400"/>
            </a:pPr>
            <a:r>
              <a:rPr dirty="0"/>
              <a:t>Open Source Reference</a:t>
            </a:r>
          </a:p>
          <a:p>
            <a:pPr>
              <a:defRPr sz="1400"/>
            </a:pPr>
            <a:r>
              <a:rPr dirty="0"/>
              <a:t>• Deep Learning and Rare Event Prediction</a:t>
            </a:r>
          </a:p>
          <a:p>
            <a:pPr>
              <a:defRPr sz="1400"/>
            </a:pPr>
            <a:r>
              <a:rPr dirty="0"/>
              <a:t>  https://github.com/cran2367/deep-learning-and-rare-event-prediction</a:t>
            </a:r>
          </a:p>
          <a:p>
            <a:pPr>
              <a:defRPr sz="1400"/>
            </a:pPr>
            <a:endParaRPr dirty="0"/>
          </a:p>
          <a:p>
            <a:pPr>
              <a:defRPr sz="1400"/>
            </a:pPr>
            <a:r>
              <a:rPr dirty="0"/>
              <a:t>Technical Documentation</a:t>
            </a:r>
          </a:p>
          <a:p>
            <a:pPr>
              <a:defRPr sz="1400"/>
            </a:pPr>
            <a:r>
              <a:rPr dirty="0"/>
              <a:t>• https://docs.python.org/</a:t>
            </a:r>
          </a:p>
          <a:p>
            <a:pPr>
              <a:defRPr sz="1400"/>
            </a:pPr>
            <a:r>
              <a:rPr dirty="0"/>
              <a:t>• https://docs.streamlit.io/</a:t>
            </a:r>
          </a:p>
          <a:p>
            <a:pPr>
              <a:defRPr sz="1400"/>
            </a:pPr>
            <a:r>
              <a:rPr dirty="0"/>
              <a:t>• https://scikit-learn.org/</a:t>
            </a:r>
          </a:p>
          <a:p>
            <a:pPr>
              <a:defRPr sz="1400"/>
            </a:pPr>
            <a:r>
              <a:rPr dirty="0"/>
              <a:t>• https://xgboost.readthedocs.io/</a:t>
            </a:r>
          </a:p>
          <a:p>
            <a:pPr>
              <a:defRPr sz="1400"/>
            </a:pPr>
            <a:r>
              <a:rPr dirty="0"/>
              <a:t>• https://shap.readthedocs.io/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7673</TotalTime>
  <Words>346</Words>
  <Application>Microsoft Macintosh PowerPoint</Application>
  <PresentationFormat>Widescreen</PresentationFormat>
  <Paragraphs>89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ＭＳ Ｐゴシック</vt:lpstr>
      <vt:lpstr>Arial</vt:lpstr>
      <vt:lpstr>Calibri</vt:lpstr>
      <vt:lpstr>Times New Roman</vt:lpstr>
      <vt:lpstr>TradeGothic</vt:lpstr>
      <vt:lpstr>Office Theme</vt:lpstr>
      <vt:lpstr>PowerPoint Presentation</vt:lpstr>
      <vt:lpstr>TECHNICAL APPROACH</vt:lpstr>
      <vt:lpstr>FEASIBILITY AND VIABILITY</vt:lpstr>
      <vt:lpstr>ARTIFACTS</vt:lpstr>
      <vt:lpstr>RESEARCH  AND REFERENCES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Template</dc:title>
  <dc:subject/>
  <cp:keywords/>
  <dc:description/>
  <cp:lastModifiedBy>Pradhyumn Gurjar</cp:lastModifiedBy>
  <cp:revision>155</cp:revision>
  <dcterms:created xsi:type="dcterms:W3CDTF">2013-12-12T18:46:50Z</dcterms:created>
  <dcterms:modified xsi:type="dcterms:W3CDTF">2026-07-26T18:07:58Z</dcterms:modified>
  <cp:category/>
</cp:coreProperties>
</file>